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cold: 'Every organization in this room is racing to ship an AI agent or a RAG chatbot on top of Azure OpenAI. Today I'm going to break one, live, four different ways — and then fix it, live, in front of you.' Keep it to 30 seconds, then move to agenda.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reframe: none of the left column stops a document from talking the model into leaking secrets. That's the whole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live app now. Click 'System Architecture' in the top bar and let this same pipeline render live for ~1 minute before diving into scenario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'I'm just going to ask a completely normal business question about a vendor contract.' Click the scenario card in the sandbox, hit Send with Secure Mode OFF. Point out: the assistant just handed over its full system prompt, verbatim, because of a sentence buried inside a contract document, not typed by any user. Toggle Secure Mode ON, send the same question again. Say: 'Same document, same question, but now the sanitizer strips the injected instruction before it ever reaches the model. Watch the Retrieved Context tab.'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'This is the single most common RAG misconfiguration I see in the field.' Send with Secure Mode OFF, actual salary numbers come back. Ask the room: 'How many of your RAG pipelines actually check document classification before retrieval, not after generation?' Toggle Secure Mode ON, resend. Show the Security Log: retrieval_access_control blocked, the document never entered the context at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'This is where prompt injection stops being a chatbot problem and becomes a security incident.' Send with Secure Mode OFF, open the Tool Events tab and show the executed send_email() call. Say: 'That's a real automation firing off of text a customer typed into a support form.' Toggle Secure Mode ON, resend, show the tool call blocked with its source labeled.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'Let's skip the documents entirely, sometimes the attacker is just... a user.' Send with Secure Mode OFF, the system prompt comes back in full. Toggle Secure Mode ON, resend the exact same text. Say: 'Blocked before it even left the building, this one never touched the model, which also means it cost nothing.'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turns the demo into a takeaway. Slow down here — architects in the room are taking photos of this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repo link on screen long enough for phones to photograph it. Invite people to try the two bonus scenarios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011680"/>
            <a:ext cx="7315200" cy="7315200"/>
          </a:xfrm>
          <a:prstGeom prst="ellipse">
            <a:avLst/>
          </a:prstGeom>
          <a:solidFill>
            <a:srgbClr val="34E6D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6400800" cy="6400800"/>
          </a:xfrm>
          <a:prstGeom prst="ellipse">
            <a:avLst/>
          </a:prstGeom>
          <a:solidFill>
            <a:srgbClr val="34E6D8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85800"/>
            <a:ext cx="822960" cy="822960"/>
          </a:xfrm>
          <a:prstGeom prst="ellipse">
            <a:avLst/>
          </a:prstGeom>
          <a:solidFill>
            <a:srgbClr val="123A3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050" y="89977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7132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4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RUNTIME SECURITY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96596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(and Defending)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Chatbots — Live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640080" y="37947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· Tool Abuse · Excessive Agency in Azure OpenAI &amp; AI Agent Architectures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40080" y="46177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51A22"/>
          </a:solidFill>
          <a:ln w="12700">
            <a:solidFill>
              <a:srgbClr val="123A3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4617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34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&amp; CULTURE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154680" y="461772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51A22"/>
          </a:solidFill>
          <a:ln w="12700">
            <a:solidFill>
              <a:srgbClr val="4A3A1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54680" y="46177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  ·  Sessionize 2026  ·  Live Demo Session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66928" cy="566928"/>
          </a:xfrm>
          <a:prstGeom prst="ellipse">
            <a:avLst/>
          </a:prstGeom>
          <a:solidFill>
            <a:srgbClr val="123A3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1976201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8013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Attack Surface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17320" y="2148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Azure OpenAI + AI Agents + RAG change the security model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0881360" y="18288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3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40080" y="2724912"/>
            <a:ext cx="566928" cy="566928"/>
          </a:xfrm>
          <a:prstGeom prst="ellipse">
            <a:avLst/>
          </a:prstGeom>
          <a:solidFill>
            <a:srgbClr val="123A3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81" y="2872313"/>
            <a:ext cx="272125" cy="2721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697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Walkthrough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417320" y="304495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9-layer guardrail pipeline behind today's sandbox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0881360" y="272491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3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640080" y="3621024"/>
            <a:ext cx="566928" cy="566928"/>
          </a:xfrm>
          <a:prstGeom prst="ellipse">
            <a:avLst/>
          </a:prstGeom>
          <a:solidFill>
            <a:srgbClr val="123A3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81" y="3768425"/>
            <a:ext cx="272125" cy="2721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35935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Live Attacks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417320" y="394106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→ Protected, in real time, one switch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0881360" y="362102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3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640080" y="4517136"/>
            <a:ext cx="566928" cy="566928"/>
          </a:xfrm>
          <a:prstGeom prst="ellipse">
            <a:avLst/>
          </a:prstGeom>
          <a:solidFill>
            <a:srgbClr val="123A38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81" y="4664537"/>
            <a:ext cx="272125" cy="27212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17320" y="448970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→ Production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1417320" y="483717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every control to a real Azure AI Agent pattern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10881360" y="451713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3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Shape 18"/>
          <p:cNvSpPr/>
          <p:nvPr/>
        </p:nvSpPr>
        <p:spPr>
          <a:xfrm>
            <a:off x="640080" y="5413248"/>
            <a:ext cx="566928" cy="566928"/>
          </a:xfrm>
          <a:prstGeom prst="ellipse">
            <a:avLst/>
          </a:prstGeom>
          <a:solidFill>
            <a:srgbClr val="123A38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81" y="5560649"/>
            <a:ext cx="272125" cy="27212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417320" y="538581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Takeaways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1417320" y="573328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'Process &amp; Culture' actually means for AI security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10881360" y="541324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3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9" name="Text 22"/>
          <p:cNvSpPr/>
          <p:nvPr/>
        </p:nvSpPr>
        <p:spPr>
          <a:xfrm>
            <a:off x="64008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RUNTIME SECURITY SANDBOX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06424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Traditional Controls Fall Short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4206240"/>
          </a:xfrm>
          <a:prstGeom prst="roundRect">
            <a:avLst>
              <a:gd name="adj" fmla="val 1957"/>
            </a:avLst>
          </a:prstGeom>
          <a:solidFill>
            <a:srgbClr val="151A22"/>
          </a:solidFill>
          <a:ln/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94560"/>
            <a:ext cx="548640" cy="548640"/>
          </a:xfrm>
          <a:prstGeom prst="ellipse">
            <a:avLst/>
          </a:prstGeom>
          <a:solidFill>
            <a:srgbClr val="123A3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766" y="233720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2128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Security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2971800"/>
            <a:ext cx="4572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perimeter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protection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access management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firewalls / WAF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355080" y="1828800"/>
            <a:ext cx="5212080" cy="4206240"/>
          </a:xfrm>
          <a:prstGeom prst="roundRect">
            <a:avLst>
              <a:gd name="adj" fmla="val 1957"/>
            </a:avLst>
          </a:prstGeom>
          <a:solidFill>
            <a:srgbClr val="1A1210"/>
          </a:solidFill>
          <a:ln/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75120" y="2194560"/>
            <a:ext cx="548640" cy="548640"/>
          </a:xfrm>
          <a:prstGeom prst="ellipse">
            <a:avLst/>
          </a:prstGeom>
          <a:solidFill>
            <a:srgbClr val="33101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7766" y="233720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2128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Runtime Attack Surface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75120" y="2971800"/>
            <a:ext cx="4572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= untrusted input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= decision engine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= action executor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= direct system access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4008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RUNTIME SECURITY SANDBOX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06424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THE DISCIPLINE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AI Runtime Security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8792" cy="1234440"/>
          </a:xfrm>
          <a:prstGeom prst="roundRect">
            <a:avLst>
              <a:gd name="adj" fmla="val 6667"/>
            </a:avLst>
          </a:prstGeom>
          <a:solidFill>
            <a:srgbClr val="151A22"/>
          </a:solidFill>
          <a:ln/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783080"/>
            <a:ext cx="10241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discipline of protecting AI interactions, agent actions, model access, and AI-driven workflows — at the moment they happen, not just at deployment time.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3337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risk categories we'll demonstrate today: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84048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151A22"/>
          </a:solidFill>
          <a:ln/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600200" y="4114800"/>
            <a:ext cx="685800" cy="685800"/>
          </a:xfrm>
          <a:prstGeom prst="ellipse">
            <a:avLst/>
          </a:prstGeom>
          <a:solidFill>
            <a:srgbClr val="123A3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8508" y="4293108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49377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34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" y="52578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474720" y="384048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151A22"/>
          </a:solidFill>
          <a:ln/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34840" y="4114800"/>
            <a:ext cx="685800" cy="685800"/>
          </a:xfrm>
          <a:prstGeom prst="ellipse">
            <a:avLst/>
          </a:prstGeom>
          <a:solidFill>
            <a:srgbClr val="123A3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3148" y="429310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74720" y="49377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34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LLM06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611880" y="52578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Info Disclosure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309360" y="384048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151A22"/>
          </a:solidFill>
          <a:ln/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269480" y="4114800"/>
            <a:ext cx="685800" cy="685800"/>
          </a:xfrm>
          <a:prstGeom prst="ellipse">
            <a:avLst/>
          </a:prstGeom>
          <a:solidFill>
            <a:srgbClr val="123A38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788" y="4293108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09360" y="49377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34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LLM08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446520" y="52578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Agency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9144000" y="384048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151A22"/>
          </a:solidFill>
          <a:ln/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104120" y="4114800"/>
            <a:ext cx="685800" cy="685800"/>
          </a:xfrm>
          <a:prstGeom prst="ellipse">
            <a:avLst/>
          </a:prstGeom>
          <a:solidFill>
            <a:srgbClr val="123A38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2428" y="4293108"/>
            <a:ext cx="329184" cy="3291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44000" y="49377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34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LLM02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9281160" y="52578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Output Handling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64008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RUNTIME SECURITY SANDBOX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06424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Azure OpenAI RAG Agent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1965960" cy="1508760"/>
          </a:xfrm>
          <a:prstGeom prst="roundRect">
            <a:avLst>
              <a:gd name="adj" fmla="val 5455"/>
            </a:avLst>
          </a:prstGeom>
          <a:solidFill>
            <a:srgbClr val="151A22"/>
          </a:solidFill>
          <a:ln/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2514600"/>
            <a:ext cx="502920" cy="502920"/>
          </a:xfrm>
          <a:prstGeom prst="ellipse">
            <a:avLst/>
          </a:prstGeom>
          <a:solidFill>
            <a:srgbClr val="123A3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2359" y="264535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1089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3474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User-facing client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606040" y="285750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898648" y="2331720"/>
            <a:ext cx="1965960" cy="1508760"/>
          </a:xfrm>
          <a:prstGeom prst="roundRect">
            <a:avLst>
              <a:gd name="adj" fmla="val 5455"/>
            </a:avLst>
          </a:prstGeom>
          <a:solidFill>
            <a:srgbClr val="151A22"/>
          </a:solidFill>
          <a:ln/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0168" y="2514600"/>
            <a:ext cx="502920" cy="502920"/>
          </a:xfrm>
          <a:prstGeom prst="ellipse">
            <a:avLst/>
          </a:prstGeom>
          <a:solidFill>
            <a:srgbClr val="123A3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0927" y="264535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90088" y="31089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Service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990088" y="3474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model deployment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864608" y="285750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5157216" y="2331720"/>
            <a:ext cx="1965960" cy="1508760"/>
          </a:xfrm>
          <a:prstGeom prst="roundRect">
            <a:avLst>
              <a:gd name="adj" fmla="val 5455"/>
            </a:avLst>
          </a:prstGeom>
          <a:solidFill>
            <a:srgbClr val="151A22"/>
          </a:solidFill>
          <a:ln/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888736" y="2514600"/>
            <a:ext cx="502920" cy="502920"/>
          </a:xfrm>
          <a:prstGeom prst="ellipse">
            <a:avLst/>
          </a:prstGeom>
          <a:solidFill>
            <a:srgbClr val="123A38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495" y="2645359"/>
            <a:ext cx="241402" cy="24140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48656" y="31089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Search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248656" y="3474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/ vector index over enterprise docs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7123176" y="285750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7415784" y="2331720"/>
            <a:ext cx="1965960" cy="1508760"/>
          </a:xfrm>
          <a:prstGeom prst="roundRect">
            <a:avLst>
              <a:gd name="adj" fmla="val 5455"/>
            </a:avLst>
          </a:prstGeom>
          <a:solidFill>
            <a:srgbClr val="151A22"/>
          </a:solidFill>
          <a:ln/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147304" y="2514600"/>
            <a:ext cx="502920" cy="502920"/>
          </a:xfrm>
          <a:prstGeom prst="ellipse">
            <a:avLst/>
          </a:prstGeom>
          <a:solidFill>
            <a:srgbClr val="123A38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8063" y="2645359"/>
            <a:ext cx="241402" cy="24140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507224" y="31089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7507224" y="3474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Kernel / Azure AI Agent Service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9381744" y="285750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28" name="Shape 22"/>
          <p:cNvSpPr/>
          <p:nvPr/>
        </p:nvSpPr>
        <p:spPr>
          <a:xfrm>
            <a:off x="9674352" y="2331720"/>
            <a:ext cx="1965960" cy="1508760"/>
          </a:xfrm>
          <a:prstGeom prst="roundRect">
            <a:avLst>
              <a:gd name="adj" fmla="val 5455"/>
            </a:avLst>
          </a:prstGeom>
          <a:solidFill>
            <a:srgbClr val="151A22"/>
          </a:solidFill>
          <a:ln/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0405872" y="2514600"/>
            <a:ext cx="502920" cy="502920"/>
          </a:xfrm>
          <a:prstGeom prst="ellipse">
            <a:avLst/>
          </a:prstGeom>
          <a:solidFill>
            <a:srgbClr val="123A38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6631" y="2645359"/>
            <a:ext cx="241402" cy="24140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765792" y="31089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9765792" y="3474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· Ticketing · File ops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640080" y="4343400"/>
            <a:ext cx="10908792" cy="1371600"/>
          </a:xfrm>
          <a:prstGeom prst="roundRect">
            <a:avLst>
              <a:gd name="adj" fmla="val 6000"/>
            </a:avLst>
          </a:prstGeom>
          <a:solidFill>
            <a:srgbClr val="0D1F20"/>
          </a:solidFill>
          <a:ln w="12700">
            <a:solidFill>
              <a:srgbClr val="123A3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34" name="Text 27"/>
          <p:cNvSpPr/>
          <p:nvPr/>
        </p:nvSpPr>
        <p:spPr>
          <a:xfrm>
            <a:off x="960120" y="434340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sandbox mirrors this exact shape — provider-agnostic underneath (Azure OpenAI, OpenAI, Claude, Gemini, or any OpenAI-compatible endpoint) — but every risk and every fix maps directly onto an Azure OpenAI deployment.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64008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RUNTIME SECURITY SANDBOX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1106424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SANDBOX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Pipeline — 9 Guardrail Layers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93008" cy="960120"/>
          </a:xfrm>
          <a:prstGeom prst="roundRect">
            <a:avLst>
              <a:gd name="adj" fmla="val 8571"/>
            </a:avLst>
          </a:prstGeom>
          <a:solidFill>
            <a:srgbClr val="151A22"/>
          </a:solidFill>
          <a:ln/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828800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17320" y="1828800"/>
            <a:ext cx="2578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Guardrail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0" y="1828800"/>
            <a:ext cx="3493008" cy="960120"/>
          </a:xfrm>
          <a:prstGeom prst="roundRect">
            <a:avLst>
              <a:gd name="adj" fmla="val 8571"/>
            </a:avLst>
          </a:prstGeom>
          <a:solidFill>
            <a:srgbClr val="151A22"/>
          </a:solidFill>
          <a:ln/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53712" y="1828800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166360" y="1828800"/>
            <a:ext cx="2578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38160" y="1828800"/>
            <a:ext cx="3493008" cy="960120"/>
          </a:xfrm>
          <a:prstGeom prst="roundRect">
            <a:avLst>
              <a:gd name="adj" fmla="val 8571"/>
            </a:avLst>
          </a:prstGeom>
          <a:solidFill>
            <a:srgbClr val="151A22"/>
          </a:solidFill>
          <a:ln/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02752" y="1828800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915400" y="1828800"/>
            <a:ext cx="2578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Access Control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044952"/>
            <a:ext cx="3493008" cy="960120"/>
          </a:xfrm>
          <a:prstGeom prst="roundRect">
            <a:avLst>
              <a:gd name="adj" fmla="val 8571"/>
            </a:avLst>
          </a:prstGeom>
          <a:solidFill>
            <a:srgbClr val="151A22"/>
          </a:solidFill>
          <a:ln/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4672" y="3044952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17320" y="3044952"/>
            <a:ext cx="2578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Sanitization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89120" y="3044952"/>
            <a:ext cx="3493008" cy="960120"/>
          </a:xfrm>
          <a:prstGeom prst="roundRect">
            <a:avLst>
              <a:gd name="adj" fmla="val 8571"/>
            </a:avLst>
          </a:prstGeom>
          <a:solidFill>
            <a:srgbClr val="151A22"/>
          </a:solidFill>
          <a:ln/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53712" y="3044952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166360" y="3044952"/>
            <a:ext cx="2578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Hierarchy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38160" y="3044952"/>
            <a:ext cx="3493008" cy="960120"/>
          </a:xfrm>
          <a:prstGeom prst="roundRect">
            <a:avLst>
              <a:gd name="adj" fmla="val 8571"/>
            </a:avLst>
          </a:prstGeom>
          <a:solidFill>
            <a:srgbClr val="151A22"/>
          </a:solidFill>
          <a:ln/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02752" y="3044952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915400" y="3044952"/>
            <a:ext cx="2578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4261104"/>
            <a:ext cx="3493008" cy="960120"/>
          </a:xfrm>
          <a:prstGeom prst="roundRect">
            <a:avLst>
              <a:gd name="adj" fmla="val 8571"/>
            </a:avLst>
          </a:prstGeom>
          <a:solidFill>
            <a:srgbClr val="151A22"/>
          </a:solidFill>
          <a:ln/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04672" y="4261104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417320" y="4261104"/>
            <a:ext cx="2578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DLP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389120" y="4261104"/>
            <a:ext cx="3493008" cy="960120"/>
          </a:xfrm>
          <a:prstGeom prst="roundRect">
            <a:avLst>
              <a:gd name="adj" fmla="val 8571"/>
            </a:avLst>
          </a:prstGeom>
          <a:solidFill>
            <a:srgbClr val="151A22"/>
          </a:solidFill>
          <a:ln/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53712" y="4261104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166360" y="4261104"/>
            <a:ext cx="2578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Link Guardrail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138160" y="4261104"/>
            <a:ext cx="3493008" cy="960120"/>
          </a:xfrm>
          <a:prstGeom prst="roundRect">
            <a:avLst>
              <a:gd name="adj" fmla="val 8571"/>
            </a:avLst>
          </a:prstGeom>
          <a:solidFill>
            <a:srgbClr val="151A22"/>
          </a:solidFill>
          <a:ln/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302752" y="4261104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915400" y="4261104"/>
            <a:ext cx="2578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Authorization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0080" y="556869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live in the AI Runtime Security Sandbox — every layer visible, in real time.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4008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RUNTIME SECURITY SANDBOX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6424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START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the Live Demo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2286000"/>
          </a:xfrm>
          <a:prstGeom prst="roundRect">
            <a:avLst>
              <a:gd name="adj" fmla="val 3600"/>
            </a:avLst>
          </a:prstGeom>
          <a:solidFill>
            <a:srgbClr val="331019"/>
          </a:solidFill>
          <a:ln w="12700">
            <a:solidFill>
              <a:srgbClr val="5C1C2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48840"/>
            <a:ext cx="548640" cy="548640"/>
          </a:xfrm>
          <a:prstGeom prst="ellipse">
            <a:avLst/>
          </a:prstGeom>
          <a:solidFill>
            <a:srgbClr val="5C1C2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766" y="229148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762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MODE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28803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OFF — the system runs exactly as a naively-deployed agent would, with no hardening.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55080" y="1828800"/>
            <a:ext cx="5212080" cy="2286000"/>
          </a:xfrm>
          <a:prstGeom prst="roundRect">
            <a:avLst>
              <a:gd name="adj" fmla="val 3600"/>
            </a:avLst>
          </a:prstGeom>
          <a:solidFill>
            <a:srgbClr val="0F2A1B"/>
          </a:solidFill>
          <a:ln w="12700">
            <a:solidFill>
              <a:srgbClr val="1E5C3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75120" y="2148840"/>
            <a:ext cx="548640" cy="548640"/>
          </a:xfrm>
          <a:prstGeom prst="ellipse">
            <a:avLst/>
          </a:prstGeom>
          <a:solidFill>
            <a:srgbClr val="1E5C3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7766" y="229148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1762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MODE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675120" y="28803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ON — input/output filtering, access control, and tool authorization all active.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40080" y="4434840"/>
            <a:ext cx="10908792" cy="1234440"/>
          </a:xfrm>
          <a:prstGeom prst="roundRect">
            <a:avLst>
              <a:gd name="adj" fmla="val 6667"/>
            </a:avLst>
          </a:prstGeom>
          <a:solidFill>
            <a:srgbClr val="151A22"/>
          </a:solidFill>
          <a:ln/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617720"/>
            <a:ext cx="411480" cy="411480"/>
          </a:xfrm>
          <a:prstGeom prst="ellipse">
            <a:avLst/>
          </a:prstGeom>
          <a:solidFill>
            <a:srgbClr val="0F2A1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55" y="4716475"/>
            <a:ext cx="213970" cy="21397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4617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neutralized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914400" y="5138928"/>
            <a:ext cx="411480" cy="411480"/>
          </a:xfrm>
          <a:prstGeom prst="ellipse">
            <a:avLst/>
          </a:prstGeom>
          <a:solidFill>
            <a:srgbClr val="331019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155" y="5237683"/>
            <a:ext cx="213970" cy="21397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63040" y="51389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succeeded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4480560" y="4434840"/>
            <a:ext cx="6766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 is tagged, live, with exactly what happened — same document, same question, one switch.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4008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RUNTIME SECURITY SANDBOX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06424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SCENARIO 1 OF 4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321040" y="438912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151A22"/>
          </a:solidFill>
          <a:ln w="12700">
            <a:solidFill>
              <a:srgbClr val="4A3A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0" y="43891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LLM01 · Prompt Injection (Indirect)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Prompt Injection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38988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instruction hidden inside a retrieved document hijacks the model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151A22"/>
          </a:solidFill>
          <a:ln/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267712"/>
            <a:ext cx="502920" cy="502920"/>
          </a:xfrm>
          <a:prstGeom prst="ellipse">
            <a:avLst/>
          </a:prstGeom>
          <a:solidFill>
            <a:srgbClr val="123A3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" y="2398471"/>
            <a:ext cx="241402" cy="24140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14400" y="2788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vendor_terms_poisoned.md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14400" y="30723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  ·  /data/documents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251960" y="2011680"/>
            <a:ext cx="7296912" cy="630936"/>
          </a:xfrm>
          <a:prstGeom prst="roundRect">
            <a:avLst>
              <a:gd name="adj" fmla="val 13043"/>
            </a:avLst>
          </a:prstGeom>
          <a:solidFill>
            <a:srgbClr val="331019"/>
          </a:solidFill>
          <a:ln w="12700">
            <a:solidFill>
              <a:srgbClr val="5C1C2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480560" y="2084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480560" y="2340864"/>
            <a:ext cx="6839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reads a hidden ‘override’ instruction inside the contract text and leaks its own system prompt — verbatim.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251960" y="2752344"/>
            <a:ext cx="7296912" cy="630936"/>
          </a:xfrm>
          <a:prstGeom prst="roundRect">
            <a:avLst>
              <a:gd name="adj" fmla="val 13043"/>
            </a:avLst>
          </a:prstGeom>
          <a:solidFill>
            <a:srgbClr val="0F2A1B"/>
          </a:solidFill>
          <a:ln w="12700">
            <a:solidFill>
              <a:srgbClr val="1E5C3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480560" y="28254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480560" y="3081528"/>
            <a:ext cx="6839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Sanitization strips the injected sentence before the model ever sees it. Same question, real answer only.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0080" y="3703320"/>
            <a:ext cx="10908792" cy="1417320"/>
          </a:xfrm>
          <a:prstGeom prst="roundRect">
            <a:avLst>
              <a:gd name="adj" fmla="val 5806"/>
            </a:avLst>
          </a:prstGeom>
          <a:solidFill>
            <a:srgbClr val="0D1F20"/>
          </a:solidFill>
          <a:ln w="12700">
            <a:solidFill>
              <a:srgbClr val="123A3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14400" y="3977640"/>
            <a:ext cx="548640" cy="548640"/>
          </a:xfrm>
          <a:prstGeom prst="ellipse">
            <a:avLst/>
          </a:prstGeom>
          <a:solidFill>
            <a:srgbClr val="123A38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046" y="4120286"/>
            <a:ext cx="263347" cy="263347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691640" y="39044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4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1691640" y="417880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retrieved chunk is scanned for instruction-like patterns and cleaned before it reaches the model.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64008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RUNTIME SECURITY SANDBOX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06424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SCENARIO 2 OF 4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321040" y="438912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151A22"/>
          </a:solidFill>
          <a:ln w="12700">
            <a:solidFill>
              <a:srgbClr val="4A3A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0" y="43891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LLM06 · Sensitive Information Disclosure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38988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retrieves a confidential document with no access control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151A22"/>
          </a:solidFill>
          <a:ln/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267712"/>
            <a:ext cx="502920" cy="502920"/>
          </a:xfrm>
          <a:prstGeom prst="ellipse">
            <a:avLst/>
          </a:prstGeom>
          <a:solidFill>
            <a:srgbClr val="123A3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" y="2398471"/>
            <a:ext cx="241402" cy="24140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14400" y="2788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confidential_salaries.md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14400" y="30723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confidential  ·  /data/documents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251960" y="2011680"/>
            <a:ext cx="7296912" cy="630936"/>
          </a:xfrm>
          <a:prstGeom prst="roundRect">
            <a:avLst>
              <a:gd name="adj" fmla="val 13043"/>
            </a:avLst>
          </a:prstGeom>
          <a:solidFill>
            <a:srgbClr val="331019"/>
          </a:solidFill>
          <a:ln w="12700">
            <a:solidFill>
              <a:srgbClr val="5C1C2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480560" y="2084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480560" y="2340864"/>
            <a:ext cx="6839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plausible HR-sounding question retrieves the confidential document — exact salary figures come straight back.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251960" y="2752344"/>
            <a:ext cx="7296912" cy="630936"/>
          </a:xfrm>
          <a:prstGeom prst="roundRect">
            <a:avLst>
              <a:gd name="adj" fmla="val 13043"/>
            </a:avLst>
          </a:prstGeom>
          <a:solidFill>
            <a:srgbClr val="0F2A1B"/>
          </a:solidFill>
          <a:ln w="12700">
            <a:solidFill>
              <a:srgbClr val="1E5C3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480560" y="28254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480560" y="3081528"/>
            <a:ext cx="6839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Access Control removes ‘confidential’ chunks before ranking even happens.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0080" y="3703320"/>
            <a:ext cx="10908792" cy="1417320"/>
          </a:xfrm>
          <a:prstGeom prst="roundRect">
            <a:avLst>
              <a:gd name="adj" fmla="val 5806"/>
            </a:avLst>
          </a:prstGeom>
          <a:solidFill>
            <a:srgbClr val="0D1F20"/>
          </a:solidFill>
          <a:ln w="12700">
            <a:solidFill>
              <a:srgbClr val="123A3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14400" y="3977640"/>
            <a:ext cx="548640" cy="548640"/>
          </a:xfrm>
          <a:prstGeom prst="ellipse">
            <a:avLst/>
          </a:prstGeom>
          <a:solidFill>
            <a:srgbClr val="123A38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046" y="4120286"/>
            <a:ext cx="263347" cy="263347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691640" y="39044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4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1691640" y="417880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enforced at retrieval time — a hard boundary, not a prompt-level suggestion after the fact.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64008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RUNTIME SECURITY SANDBOX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06424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SCENARIO 3 OF 4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321040" y="438912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151A22"/>
          </a:solidFill>
          <a:ln w="12700">
            <a:solidFill>
              <a:srgbClr val="4A3A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0" y="43891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LLM08 · Excessive Agency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Agency — Tool Abuse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38988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support ticket's hidden note triggers an unauthorized email tool call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151A22"/>
          </a:solidFill>
          <a:ln/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267712"/>
            <a:ext cx="502920" cy="502920"/>
          </a:xfrm>
          <a:prstGeom prst="ellipse">
            <a:avLst/>
          </a:prstGeom>
          <a:solidFill>
            <a:srgbClr val="123A3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" y="2398471"/>
            <a:ext cx="241402" cy="24140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14400" y="2788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support_ticket_with_tool_injection.md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14400" y="30723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  ·  /data/documents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251960" y="2011680"/>
            <a:ext cx="7296912" cy="630936"/>
          </a:xfrm>
          <a:prstGeom prst="roundRect">
            <a:avLst>
              <a:gd name="adj" fmla="val 13043"/>
            </a:avLst>
          </a:prstGeom>
          <a:solidFill>
            <a:srgbClr val="331019"/>
          </a:solidFill>
          <a:ln w="12700">
            <a:solidFill>
              <a:srgbClr val="5C1C2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480560" y="2084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480560" y="2340864"/>
            <a:ext cx="6839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routine ‘summarize this ticket’ request triggers a real send_email() call — exfiltrating customer records.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251960" y="2752344"/>
            <a:ext cx="7296912" cy="630936"/>
          </a:xfrm>
          <a:prstGeom prst="roundRect">
            <a:avLst>
              <a:gd name="adj" fmla="val 13043"/>
            </a:avLst>
          </a:prstGeom>
          <a:solidFill>
            <a:srgbClr val="0F2A1B"/>
          </a:solidFill>
          <a:ln w="12700">
            <a:solidFill>
              <a:srgbClr val="1E5C3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480560" y="28254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480560" y="3081528"/>
            <a:ext cx="6839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Authorization checks where the trigger came from. Untrusted retrieved content can never fire a tool call.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0080" y="3703320"/>
            <a:ext cx="10908792" cy="1417320"/>
          </a:xfrm>
          <a:prstGeom prst="roundRect">
            <a:avLst>
              <a:gd name="adj" fmla="val 5806"/>
            </a:avLst>
          </a:prstGeom>
          <a:solidFill>
            <a:srgbClr val="0D1F20"/>
          </a:solidFill>
          <a:ln w="12700">
            <a:solidFill>
              <a:srgbClr val="123A3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14400" y="3977640"/>
            <a:ext cx="548640" cy="548640"/>
          </a:xfrm>
          <a:prstGeom prst="ellipse">
            <a:avLst/>
          </a:prstGeom>
          <a:solidFill>
            <a:srgbClr val="123A38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046" y="4120286"/>
            <a:ext cx="263347" cy="263347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691640" y="39044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4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1691640" y="417880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Provenance-based authorization: the same control blocks any tool, regardless of what it does.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64008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RUNTIME SECURITY SANDBOX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06424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SCENARIO 4 OF 4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321040" y="438912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151A22"/>
          </a:solidFill>
          <a:ln w="12700">
            <a:solidFill>
              <a:srgbClr val="4A3A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0" y="43891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LLM01 · Prompt Injection (Direct)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Jailbreak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38988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directly tries to override the system instructions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151A22"/>
          </a:solidFill>
          <a:ln/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267712"/>
            <a:ext cx="502920" cy="502920"/>
          </a:xfrm>
          <a:prstGeom prst="ellipse">
            <a:avLst/>
          </a:prstGeom>
          <a:solidFill>
            <a:srgbClr val="123A3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" y="2398471"/>
            <a:ext cx="241402" cy="24140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14400" y="2788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direct attack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14400" y="30723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attacker is the end user, typing directly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251960" y="2011680"/>
            <a:ext cx="7296912" cy="630936"/>
          </a:xfrm>
          <a:prstGeom prst="roundRect">
            <a:avLst>
              <a:gd name="adj" fmla="val 13043"/>
            </a:avLst>
          </a:prstGeom>
          <a:solidFill>
            <a:srgbClr val="331019"/>
          </a:solidFill>
          <a:ln w="12700">
            <a:solidFill>
              <a:srgbClr val="5C1C2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480560" y="2084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480560" y="2340864"/>
            <a:ext cx="6839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complies and prints its own system instructions in full.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251960" y="2752344"/>
            <a:ext cx="7296912" cy="630936"/>
          </a:xfrm>
          <a:prstGeom prst="roundRect">
            <a:avLst>
              <a:gd name="adj" fmla="val 13043"/>
            </a:avLst>
          </a:prstGeom>
          <a:solidFill>
            <a:srgbClr val="0F2A1B"/>
          </a:solidFill>
          <a:ln w="12700">
            <a:solidFill>
              <a:srgbClr val="1E5C3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480560" y="28254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480560" y="3081528"/>
            <a:ext cx="6839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 Guardrail rejects the message before it ever reaches the model — zero tokens, zero risk.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0080" y="3703320"/>
            <a:ext cx="10908792" cy="1417320"/>
          </a:xfrm>
          <a:prstGeom prst="roundRect">
            <a:avLst>
              <a:gd name="adj" fmla="val 5806"/>
            </a:avLst>
          </a:prstGeom>
          <a:solidFill>
            <a:srgbClr val="0D1F20"/>
          </a:solidFill>
          <a:ln w="12700">
            <a:solidFill>
              <a:srgbClr val="123A3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14400" y="3977640"/>
            <a:ext cx="548640" cy="548640"/>
          </a:xfrm>
          <a:prstGeom prst="ellipse">
            <a:avLst/>
          </a:prstGeom>
          <a:solidFill>
            <a:srgbClr val="123A38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046" y="4120286"/>
            <a:ext cx="263347" cy="263347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691640" y="39044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4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1691640" y="417880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Pattern-matching on the raw user message, pre-flight — no LLM call needed to block it.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64008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RUNTIME SECURITY SANDBOX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06424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Attacks, One Pattern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08792" cy="2743200"/>
        </p:xfrm>
        <a:graphic>
          <a:graphicData uri="http://schemas.openxmlformats.org/drawingml/2006/table">
            <a:tbl>
              <a:tblPr/>
              <a:tblGrid>
                <a:gridCol w="4754880"/>
                <a:gridCol w="2926080"/>
                <a:gridCol w="322783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3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OWASP LLM Top 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3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 By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3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7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Indirect Prompt Injection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3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7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LLM01 (Indirect)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3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7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Sanitization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3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7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Leakage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3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7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LLM06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3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7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 Access Control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3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7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Excessive Agency / Tool Abuse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3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7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LLM08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3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7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Authorization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3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7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Jailbreak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3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7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LLM01 (Direct)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3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7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Guardrail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3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892040"/>
            <a:ext cx="10908792" cy="1051560"/>
          </a:xfrm>
          <a:prstGeom prst="roundRect">
            <a:avLst>
              <a:gd name="adj" fmla="val 7826"/>
            </a:avLst>
          </a:prstGeom>
          <a:solidFill>
            <a:srgbClr val="151A22"/>
          </a:solidFill>
          <a:ln/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60120" y="4892040"/>
            <a:ext cx="1024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more scenarios live in the sandbox — Insecure Output Handling (markdown exfiltration) and a destructive Excessive Agency variant (delete_file). Try them after the talk.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RUNTIME SECURITY SANDBOX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6424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DEMO TO PRODUCTION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Controls → Azure AI Agent Patterns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08792" cy="594360"/>
          </a:xfrm>
          <a:prstGeom prst="roundRect">
            <a:avLst>
              <a:gd name="adj" fmla="val 13846"/>
            </a:avLst>
          </a:prstGeom>
          <a:solidFill>
            <a:srgbClr val="151A2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Guardrail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257800" y="182880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Content Safety — Prompt Shields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Access Control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257800" y="251460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Search security trimming + Microsoft Purview sensitivity labels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908792" cy="594360"/>
          </a:xfrm>
          <a:prstGeom prst="roundRect">
            <a:avLst>
              <a:gd name="adj" fmla="val 13846"/>
            </a:avLst>
          </a:prstGeom>
          <a:solidFill>
            <a:srgbClr val="151A2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004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Sanitization / Instruction Hierarchy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57800" y="320040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system messages &amp; grounding instructions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38862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DLP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57800" y="388620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Content Safety — text moderation / PII detection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572000"/>
            <a:ext cx="10908792" cy="594360"/>
          </a:xfrm>
          <a:prstGeom prst="roundRect">
            <a:avLst>
              <a:gd name="adj" fmla="val 13846"/>
            </a:avLst>
          </a:prstGeom>
          <a:solidFill>
            <a:srgbClr val="151A22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5720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Authorization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57800" y="457200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Identity + least-privilege scopes, human-in-the-loop approval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14400" y="52578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Everything, end to end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57800" y="525780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audit logging via Azure Monitor / Application Insights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RUNTIME SECURITY SANDBOX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6424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&amp; CULTURE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 a Lifecycle, Not a Setting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" cy="530352"/>
          </a:xfrm>
          <a:prstGeom prst="ellipse">
            <a:avLst/>
          </a:prstGeom>
          <a:solidFill>
            <a:srgbClr val="123A3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972" y="1920972"/>
            <a:ext cx="254569" cy="25456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7556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Threat-model every agent before it ships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71600" y="209397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it talk to? What can it do? What happens if it's wrong?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2624328"/>
            <a:ext cx="530352" cy="530352"/>
          </a:xfrm>
          <a:prstGeom prst="ellipse">
            <a:avLst/>
          </a:prstGeom>
          <a:solidFill>
            <a:srgbClr val="123A3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972" y="2762220"/>
            <a:ext cx="254569" cy="25456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59689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 your RAG pipeline like an API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371600" y="293522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 documents are inputs — test them like you test payloads.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465576"/>
            <a:ext cx="530352" cy="530352"/>
          </a:xfrm>
          <a:prstGeom prst="ellipse">
            <a:avLst/>
          </a:prstGeom>
          <a:solidFill>
            <a:srgbClr val="123A38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972" y="3603468"/>
            <a:ext cx="254569" cy="25456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43814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data before ingestion, not after a leak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371600" y="377647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labels are a retrieval-time control, not an afterthought.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4306824"/>
            <a:ext cx="530352" cy="530352"/>
          </a:xfrm>
          <a:prstGeom prst="ellipse">
            <a:avLst/>
          </a:prstGeom>
          <a:solidFill>
            <a:srgbClr val="123A38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972" y="4444716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42793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scopes for every tool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371600" y="46177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should never hold more permission than the task requires.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40080" y="5148072"/>
            <a:ext cx="530352" cy="530352"/>
          </a:xfrm>
          <a:prstGeom prst="ellipse">
            <a:avLst/>
          </a:prstGeom>
          <a:solidFill>
            <a:srgbClr val="123A38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972" y="5285964"/>
            <a:ext cx="254569" cy="25456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71600" y="5120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&amp; respond to AI behavior in production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1371600" y="54589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model/agent output like any other system needing observability.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“Innovate safely — not slowly.”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64008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RUNTIME SECURITY SANDBOX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06424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MORE THING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Vendor Isn't the Vulnerability — the Architecture 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011680" cy="1737360"/>
          </a:xfrm>
          <a:prstGeom prst="roundRect">
            <a:avLst>
              <a:gd name="adj" fmla="val 4737"/>
            </a:avLst>
          </a:prstGeom>
          <a:solidFill>
            <a:srgbClr val="0D1F20"/>
          </a:solidFill>
          <a:ln w="12700">
            <a:solidFill>
              <a:srgbClr val="123A3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2542032"/>
            <a:ext cx="548640" cy="548640"/>
          </a:xfrm>
          <a:prstGeom prst="ellipse">
            <a:avLst/>
          </a:prstGeom>
          <a:solidFill>
            <a:srgbClr val="123A3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4246" y="2684678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2461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4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34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880360" y="2286000"/>
            <a:ext cx="2011680" cy="1737360"/>
          </a:xfrm>
          <a:prstGeom prst="roundRect">
            <a:avLst>
              <a:gd name="adj" fmla="val 4737"/>
            </a:avLst>
          </a:prstGeom>
          <a:solidFill>
            <a:srgbClr val="151A22"/>
          </a:solidFill>
          <a:ln/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11880" y="2542032"/>
            <a:ext cx="548640" cy="548640"/>
          </a:xfrm>
          <a:prstGeom prst="ellipse">
            <a:avLst/>
          </a:prstGeom>
          <a:solidFill>
            <a:srgbClr val="232A3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4526" y="2684678"/>
            <a:ext cx="263347" cy="26334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971800" y="32461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120640" y="2286000"/>
            <a:ext cx="2011680" cy="1737360"/>
          </a:xfrm>
          <a:prstGeom prst="roundRect">
            <a:avLst>
              <a:gd name="adj" fmla="val 4737"/>
            </a:avLst>
          </a:prstGeom>
          <a:solidFill>
            <a:srgbClr val="151A22"/>
          </a:solidFill>
          <a:ln/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852160" y="2542032"/>
            <a:ext cx="548640" cy="548640"/>
          </a:xfrm>
          <a:prstGeom prst="ellipse">
            <a:avLst/>
          </a:prstGeom>
          <a:solidFill>
            <a:srgbClr val="232A3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4806" y="2684678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12080" y="32461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360920" y="2286000"/>
            <a:ext cx="2011680" cy="1737360"/>
          </a:xfrm>
          <a:prstGeom prst="roundRect">
            <a:avLst>
              <a:gd name="adj" fmla="val 4737"/>
            </a:avLst>
          </a:prstGeom>
          <a:solidFill>
            <a:srgbClr val="151A22"/>
          </a:solidFill>
          <a:ln/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092440" y="2542032"/>
            <a:ext cx="548640" cy="548640"/>
          </a:xfrm>
          <a:prstGeom prst="ellipse">
            <a:avLst/>
          </a:prstGeom>
          <a:solidFill>
            <a:srgbClr val="232A36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5086" y="2684678"/>
            <a:ext cx="263347" cy="26334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52360" y="32461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9601200" y="2286000"/>
            <a:ext cx="2011680" cy="1737360"/>
          </a:xfrm>
          <a:prstGeom prst="roundRect">
            <a:avLst>
              <a:gd name="adj" fmla="val 4737"/>
            </a:avLst>
          </a:prstGeom>
          <a:solidFill>
            <a:srgbClr val="151A22"/>
          </a:solidFill>
          <a:ln/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0332720" y="2542032"/>
            <a:ext cx="548640" cy="548640"/>
          </a:xfrm>
          <a:prstGeom prst="ellipse">
            <a:avLst/>
          </a:prstGeom>
          <a:solidFill>
            <a:srgbClr val="232A36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5366" y="2684678"/>
            <a:ext cx="263347" cy="26334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692640" y="32461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/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OpenAI-compatible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640080" y="4343400"/>
            <a:ext cx="10908792" cy="1371600"/>
          </a:xfrm>
          <a:prstGeom prst="roundRect">
            <a:avLst>
              <a:gd name="adj" fmla="val 6000"/>
            </a:avLst>
          </a:prstGeom>
          <a:solidFill>
            <a:srgbClr val="151A22"/>
          </a:solidFill>
          <a:ln/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25" name="Text 18"/>
          <p:cNvSpPr/>
          <p:nvPr/>
        </p:nvSpPr>
        <p:spPr>
          <a:xfrm>
            <a:off x="960120" y="434340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scenario, every guardrail shown today runs unmodified against all five. The lesson travels with your architecture, not your model vendor.</a:t>
            </a:r>
            <a:endParaRPr lang="en-US" sz="1450" dirty="0"/>
          </a:p>
        </p:txBody>
      </p:sp>
      <p:sp>
        <p:nvSpPr>
          <p:cNvPr id="26" name="Text 19"/>
          <p:cNvSpPr/>
          <p:nvPr/>
        </p:nvSpPr>
        <p:spPr>
          <a:xfrm>
            <a:off x="64008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RUNTIME SECURITY SANDBOX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06424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06040" cy="2743200"/>
          </a:xfrm>
          <a:prstGeom prst="roundRect">
            <a:avLst>
              <a:gd name="adj" fmla="val 3158"/>
            </a:avLst>
          </a:prstGeom>
          <a:solidFill>
            <a:srgbClr val="151A22"/>
          </a:solidFill>
          <a:ln/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28600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4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68680" y="338328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layers stop 4 real OWASP LLM attack classes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74720" y="1965960"/>
            <a:ext cx="2606040" cy="2743200"/>
          </a:xfrm>
          <a:prstGeom prst="roundRect">
            <a:avLst>
              <a:gd name="adj" fmla="val 3158"/>
            </a:avLst>
          </a:prstGeom>
          <a:solidFill>
            <a:srgbClr val="151A22"/>
          </a:solidFill>
          <a:ln/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11880" y="228600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4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3703320" y="338328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is the entire difference between vulnerable and protected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965960"/>
            <a:ext cx="2606040" cy="2743200"/>
          </a:xfrm>
          <a:prstGeom prst="roundRect">
            <a:avLst>
              <a:gd name="adj" fmla="val 3158"/>
            </a:avLst>
          </a:prstGeom>
          <a:solidFill>
            <a:srgbClr val="151A22"/>
          </a:solidFill>
          <a:ln/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46520" y="228600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4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6537960" y="338328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 — same risks, same fixes, every LLM provider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44000" y="1965960"/>
            <a:ext cx="2606040" cy="2743200"/>
          </a:xfrm>
          <a:prstGeom prst="roundRect">
            <a:avLst>
              <a:gd name="adj" fmla="val 3158"/>
            </a:avLst>
          </a:prstGeom>
          <a:solidFill>
            <a:srgbClr val="151A22"/>
          </a:solidFill>
          <a:ln/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81160" y="228600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4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9372600" y="338328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these attacks came from content, not just user input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RUNTIME SECURITY SANDBOX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6424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011680"/>
            <a:ext cx="7315200" cy="7315200"/>
          </a:xfrm>
          <a:prstGeom prst="ellipse">
            <a:avLst/>
          </a:prstGeom>
          <a:solidFill>
            <a:srgbClr val="34E6D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6400800" cy="6400800"/>
          </a:xfrm>
          <a:prstGeom prst="ellipse">
            <a:avLst/>
          </a:prstGeom>
          <a:solidFill>
            <a:srgbClr val="34E6D8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05840"/>
            <a:ext cx="822960" cy="822960"/>
          </a:xfrm>
          <a:prstGeom prst="ellipse">
            <a:avLst/>
          </a:prstGeom>
          <a:solidFill>
            <a:srgbClr val="123A3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050" y="121981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1031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40080" y="3063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40080" y="3977640"/>
            <a:ext cx="10908792" cy="1737360"/>
          </a:xfrm>
          <a:prstGeom prst="roundRect">
            <a:avLst>
              <a:gd name="adj" fmla="val 4737"/>
            </a:avLst>
          </a:prstGeom>
          <a:solidFill>
            <a:srgbClr val="151A22"/>
          </a:solidFill>
          <a:ln/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60120" y="4206240"/>
            <a:ext cx="384048" cy="384048"/>
          </a:xfrm>
          <a:prstGeom prst="ellipse">
            <a:avLst/>
          </a:prstGeom>
          <a:solidFill>
            <a:srgbClr val="123A3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292" y="4298412"/>
            <a:ext cx="199705" cy="19970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420624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&amp; slides: your-repo-link.example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960120" y="4681728"/>
            <a:ext cx="384048" cy="384048"/>
          </a:xfrm>
          <a:prstGeom prst="ellipse">
            <a:avLst/>
          </a:prstGeom>
          <a:solidFill>
            <a:srgbClr val="123A38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292" y="4773900"/>
            <a:ext cx="199705" cy="19970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468172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you@example.com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960120" y="519379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&amp; Culture · Intermediate · Sessionize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Runtime Security — Breaking (and Defending) RAG Chatbots Live</dc:title>
  <dc:subject>PptxGenJS Presentation</dc:subject>
  <dc:creator>NovaTech Solutions</dc:creator>
  <cp:lastModifiedBy>NovaTech Solutions</cp:lastModifiedBy>
  <cp:revision>1</cp:revision>
  <dcterms:created xsi:type="dcterms:W3CDTF">2026-07-09T18:16:00Z</dcterms:created>
  <dcterms:modified xsi:type="dcterms:W3CDTF">2026-07-09T18:16:00Z</dcterms:modified>
</cp:coreProperties>
</file>